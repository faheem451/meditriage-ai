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B9049-046F-4EF7-B54A-8D8F1E2BF597}" type="datetimeFigureOut">
              <a:rPr lang="en-PK" smtClean="0"/>
              <a:t>12/06/2026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E1541-D2AB-4CC4-B60E-9527EDCAC8E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2309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06AD929D-E4DA-71EC-0E6F-73D5F10E4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842" y="502920"/>
            <a:ext cx="1463040" cy="1463040"/>
          </a:xfrm>
          <a:prstGeom prst="rect">
            <a:avLst/>
          </a:prstGeom>
        </p:spPr>
      </p:pic>
      <p:sp>
        <p:nvSpPr>
          <p:cNvPr id="30" name="Text 1">
            <a:extLst>
              <a:ext uri="{FF2B5EF4-FFF2-40B4-BE49-F238E27FC236}">
                <a16:creationId xmlns:a16="http://schemas.microsoft.com/office/drawing/2014/main" id="{7D5F1531-0C85-53F8-1F98-819841FE0601}"/>
              </a:ext>
            </a:extLst>
          </p:cNvPr>
          <p:cNvSpPr/>
          <p:nvPr/>
        </p:nvSpPr>
        <p:spPr>
          <a:xfrm>
            <a:off x="1981200" y="277284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MediTriage AI</a:t>
            </a:r>
            <a:endParaRPr lang="en-US" sz="72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F667470D-4217-05AB-E7E6-172234258D88}"/>
              </a:ext>
            </a:extLst>
          </p:cNvPr>
          <p:cNvSpPr/>
          <p:nvPr/>
        </p:nvSpPr>
        <p:spPr>
          <a:xfrm>
            <a:off x="1725562" y="40851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Symptom Checker</a:t>
            </a:r>
            <a:endParaRPr lang="en-US" sz="2600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43F662D2-82DA-7CD3-4CC7-A8B6882A19B0}"/>
              </a:ext>
            </a:extLst>
          </p:cNvPr>
          <p:cNvSpPr/>
          <p:nvPr/>
        </p:nvSpPr>
        <p:spPr>
          <a:xfrm>
            <a:off x="4468762" y="4824640"/>
            <a:ext cx="2743200" cy="36576"/>
          </a:xfrm>
          <a:prstGeom prst="rect">
            <a:avLst/>
          </a:prstGeom>
          <a:solidFill>
            <a:srgbClr val="0D9DA8"/>
          </a:solidFill>
          <a:ln w="12700">
            <a:solidFill>
              <a:srgbClr val="0D9DA8"/>
            </a:solidFill>
            <a:prstDash val="solid"/>
          </a:ln>
        </p:spPr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0C61A08B-C4E8-8BC4-7F94-3E38206AEDEF}"/>
              </a:ext>
            </a:extLst>
          </p:cNvPr>
          <p:cNvSpPr/>
          <p:nvPr/>
        </p:nvSpPr>
        <p:spPr>
          <a:xfrm>
            <a:off x="1981200" y="482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Agent with Conditional + Iterative Workflow</a:t>
            </a:r>
            <a:endParaRPr lang="en-US" sz="150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5EC45DBC-217B-544E-9FBC-7906DBA1CBA6}"/>
              </a:ext>
            </a:extLst>
          </p:cNvPr>
          <p:cNvSpPr/>
          <p:nvPr/>
        </p:nvSpPr>
        <p:spPr>
          <a:xfrm>
            <a:off x="1981200" y="5724144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0D2045"/>
          </a:solidFill>
          <a:ln w="12700">
            <a:solidFill>
              <a:srgbClr val="2E6BC4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Submitted To : </a:t>
            </a:r>
            <a:r>
              <a:rPr lang="en-US" dirty="0" err="1">
                <a:solidFill>
                  <a:schemeClr val="bg1"/>
                </a:solidFill>
              </a:rPr>
              <a:t>Maam</a:t>
            </a:r>
            <a:r>
              <a:rPr lang="en-US" dirty="0">
                <a:solidFill>
                  <a:schemeClr val="bg1"/>
                </a:solidFill>
              </a:rPr>
              <a:t> Iqra</a:t>
            </a:r>
          </a:p>
          <a:p>
            <a:r>
              <a:rPr lang="en-US" dirty="0">
                <a:solidFill>
                  <a:schemeClr val="bg1"/>
                </a:solidFill>
              </a:rPr>
              <a:t>Group Members: 1) Faheem Ahmad   (2) Abdul Basit Rizwan (3) Usman</a:t>
            </a:r>
          </a:p>
          <a:p>
            <a:endParaRPr lang="en-US" dirty="0"/>
          </a:p>
          <a:p>
            <a:endParaRPr lang="en-PK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8650-88BB-F12D-264E-2E055717D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CC6BFBB-ED8D-B35C-F799-E113B30489FA}"/>
              </a:ext>
            </a:extLst>
          </p:cNvPr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B40BB8D-A32E-0583-D2CD-43BAE3CC7992}"/>
              </a:ext>
            </a:extLst>
          </p:cNvPr>
          <p:cNvSpPr/>
          <p:nvPr/>
        </p:nvSpPr>
        <p:spPr>
          <a:xfrm>
            <a:off x="1097280" y="1097280"/>
            <a:ext cx="822960" cy="822960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2489E6-8CC2-7E48-98FF-E4EAD241C78B}"/>
              </a:ext>
            </a:extLst>
          </p:cNvPr>
          <p:cNvSpPr txBox="1"/>
          <p:nvPr/>
        </p:nvSpPr>
        <p:spPr>
          <a:xfrm>
            <a:off x="1097280" y="1280160"/>
            <a:ext cx="8229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Segoe UI"/>
              </a:defRPr>
            </a:pPr>
            <a:r>
              <a:t>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9075A0-B36D-FCE0-8FB6-B16272F4E214}"/>
              </a:ext>
            </a:extLst>
          </p:cNvPr>
          <p:cNvSpPr txBox="1"/>
          <p:nvPr/>
        </p:nvSpPr>
        <p:spPr>
          <a:xfrm>
            <a:off x="2194560" y="1097280"/>
            <a:ext cx="86868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Segoe UI"/>
              </a:defRPr>
            </a:pPr>
            <a:r>
              <a:t>MediTriage 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C8810B-C777-8B9F-9A4D-3D252AADC481}"/>
              </a:ext>
            </a:extLst>
          </p:cNvPr>
          <p:cNvSpPr txBox="1"/>
          <p:nvPr/>
        </p:nvSpPr>
        <p:spPr>
          <a:xfrm>
            <a:off x="2194560" y="1645920"/>
            <a:ext cx="8686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 i="0">
                <a:solidFill>
                  <a:srgbClr val="0D9488"/>
                </a:solidFill>
                <a:latin typeface="Segoe UI"/>
              </a:defRPr>
            </a:pPr>
            <a:r>
              <a:t>LangGraph-Powered Medical Symptom Checker &amp; Triage Agent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1C313C-73D6-030B-53CF-2B718FADCA2F}"/>
              </a:ext>
            </a:extLst>
          </p:cNvPr>
          <p:cNvSpPr/>
          <p:nvPr/>
        </p:nvSpPr>
        <p:spPr>
          <a:xfrm>
            <a:off x="1097280" y="2286000"/>
            <a:ext cx="9966960" cy="182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370A8-17DF-5FD3-9CDB-8C4A8807468E}"/>
              </a:ext>
            </a:extLst>
          </p:cNvPr>
          <p:cNvSpPr txBox="1"/>
          <p:nvPr/>
        </p:nvSpPr>
        <p:spPr>
          <a:xfrm>
            <a:off x="1097280" y="2560320"/>
            <a:ext cx="99669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0D9488"/>
                </a:solidFill>
                <a:latin typeface="Segoe UI"/>
              </a:defRPr>
            </a:pPr>
            <a:r>
              <a:t>AN INTELLIGENT CLINICAL TRIAGE ASSISTANT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816423-7A17-5DE4-4425-0B9FD5869DA1}"/>
              </a:ext>
            </a:extLst>
          </p:cNvPr>
          <p:cNvSpPr txBox="1"/>
          <p:nvPr/>
        </p:nvSpPr>
        <p:spPr>
          <a:xfrm>
            <a:off x="1097280" y="2880360"/>
            <a:ext cx="996696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MediTriage AI is a production-ready agentic solution built to assess patient symptoms, verify cases against clinical medical guidelines, calculate numerical urgency scores, and route users to the appropriate level of care. Designed with a dual-loop verification system, it actively resolves data ambiguities and validates recomendation safety before generating the final care plan.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FCEDD-8912-8AFC-B915-F937D8AA77F4}"/>
              </a:ext>
            </a:extLst>
          </p:cNvPr>
          <p:cNvSpPr txBox="1"/>
          <p:nvPr/>
        </p:nvSpPr>
        <p:spPr>
          <a:xfrm>
            <a:off x="1097280" y="4023360"/>
            <a:ext cx="99669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0D9488"/>
                </a:solidFill>
                <a:latin typeface="Segoe UI"/>
              </a:defRPr>
            </a:pPr>
            <a:r>
              <a:t>TECHNOLOGIES USED &amp; CORE CONCEPTS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9610574-47B9-514D-A17E-AA93CB129B2C}"/>
              </a:ext>
            </a:extLst>
          </p:cNvPr>
          <p:cNvSpPr/>
          <p:nvPr/>
        </p:nvSpPr>
        <p:spPr>
          <a:xfrm>
            <a:off x="1097280" y="4389120"/>
            <a:ext cx="18288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4D06F-B5E5-018F-9A73-9D2A79B0F373}"/>
              </a:ext>
            </a:extLst>
          </p:cNvPr>
          <p:cNvSpPr txBox="1"/>
          <p:nvPr/>
        </p:nvSpPr>
        <p:spPr>
          <a:xfrm>
            <a:off x="1188720" y="44805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⚡ LangGraph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32E4A8-A0D7-D678-6A43-1D41C2BD7981}"/>
              </a:ext>
            </a:extLst>
          </p:cNvPr>
          <p:cNvSpPr txBox="1"/>
          <p:nvPr/>
        </p:nvSpPr>
        <p:spPr>
          <a:xfrm>
            <a:off x="1188720" y="4800600"/>
            <a:ext cx="164592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50" b="0" i="0">
                <a:solidFill>
                  <a:srgbClr val="475569"/>
                </a:solidFill>
                <a:latin typeface="Segoe UI"/>
              </a:defRPr>
            </a:pPr>
            <a:r>
              <a:t>Orchestrates nodes, conditional routes, and iterative review loops.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355920-86D7-8532-53A0-83B7041905E5}"/>
              </a:ext>
            </a:extLst>
          </p:cNvPr>
          <p:cNvSpPr/>
          <p:nvPr/>
        </p:nvSpPr>
        <p:spPr>
          <a:xfrm>
            <a:off x="3108960" y="4389120"/>
            <a:ext cx="18288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7C5393-FD36-C73E-E5CC-7F6315C516FD}"/>
              </a:ext>
            </a:extLst>
          </p:cNvPr>
          <p:cNvSpPr txBox="1"/>
          <p:nvPr/>
        </p:nvSpPr>
        <p:spPr>
          <a:xfrm>
            <a:off x="3200400" y="44805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🧠 Groq &amp; Llama-3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C9F184-A13C-5640-0592-B9F5B3DC35BA}"/>
              </a:ext>
            </a:extLst>
          </p:cNvPr>
          <p:cNvSpPr txBox="1"/>
          <p:nvPr/>
        </p:nvSpPr>
        <p:spPr>
          <a:xfrm>
            <a:off x="3200400" y="4800600"/>
            <a:ext cx="164592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50" b="0" i="0">
                <a:solidFill>
                  <a:srgbClr val="475569"/>
                </a:solidFill>
                <a:latin typeface="Segoe UI"/>
              </a:defRPr>
            </a:pPr>
            <a:r>
              <a:t>Llama-3.3-70b-versatile provides structured clinical reasoning.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F7EC201-AAD8-3218-607F-B738171E1894}"/>
              </a:ext>
            </a:extLst>
          </p:cNvPr>
          <p:cNvSpPr/>
          <p:nvPr/>
        </p:nvSpPr>
        <p:spPr>
          <a:xfrm>
            <a:off x="5120640" y="4389120"/>
            <a:ext cx="18288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72DF49-86E3-31DA-F6B3-0418ABA31779}"/>
              </a:ext>
            </a:extLst>
          </p:cNvPr>
          <p:cNvSpPr txBox="1"/>
          <p:nvPr/>
        </p:nvSpPr>
        <p:spPr>
          <a:xfrm>
            <a:off x="5212080" y="44805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🏥 Medical DB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9B42E7-BBA7-7271-F8D8-9DC5E10FBF6F}"/>
              </a:ext>
            </a:extLst>
          </p:cNvPr>
          <p:cNvSpPr txBox="1"/>
          <p:nvPr/>
        </p:nvSpPr>
        <p:spPr>
          <a:xfrm>
            <a:off x="5212080" y="4800600"/>
            <a:ext cx="164592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50" b="0" i="0">
                <a:solidFill>
                  <a:srgbClr val="475569"/>
                </a:solidFill>
                <a:latin typeface="Segoe UI"/>
              </a:defRPr>
            </a:pPr>
            <a:r>
              <a:t>Python tools cross-reference local guidelines &amp; compute urgency levels.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67A6818-8B03-52AD-854C-476EB7B26078}"/>
              </a:ext>
            </a:extLst>
          </p:cNvPr>
          <p:cNvSpPr/>
          <p:nvPr/>
        </p:nvSpPr>
        <p:spPr>
          <a:xfrm>
            <a:off x="7132320" y="4389120"/>
            <a:ext cx="18288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D5E071-0053-5C8C-D8AE-0CA88EDB4465}"/>
              </a:ext>
            </a:extLst>
          </p:cNvPr>
          <p:cNvSpPr txBox="1"/>
          <p:nvPr/>
        </p:nvSpPr>
        <p:spPr>
          <a:xfrm>
            <a:off x="7223760" y="44805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💾 Session Memory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A583CC-20E6-892D-00FD-AC7D3B7DD534}"/>
              </a:ext>
            </a:extLst>
          </p:cNvPr>
          <p:cNvSpPr txBox="1"/>
          <p:nvPr/>
        </p:nvSpPr>
        <p:spPr>
          <a:xfrm>
            <a:off x="7223760" y="4800600"/>
            <a:ext cx="164592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50" b="0" i="0">
                <a:solidFill>
                  <a:srgbClr val="475569"/>
                </a:solidFill>
                <a:latin typeface="Segoe UI"/>
              </a:defRPr>
            </a:pPr>
            <a:r>
              <a:t>LangGraph MemorySaver persists chat assessments using session IDs.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8B1FA4D-A1B0-4323-0694-C1CA0FED4CD1}"/>
              </a:ext>
            </a:extLst>
          </p:cNvPr>
          <p:cNvSpPr/>
          <p:nvPr/>
        </p:nvSpPr>
        <p:spPr>
          <a:xfrm>
            <a:off x="9144000" y="4389120"/>
            <a:ext cx="182880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3870D7-CCDD-5E05-0A04-3FBE84780507}"/>
              </a:ext>
            </a:extLst>
          </p:cNvPr>
          <p:cNvSpPr txBox="1"/>
          <p:nvPr/>
        </p:nvSpPr>
        <p:spPr>
          <a:xfrm>
            <a:off x="9235440" y="448056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🎨 Streamlit UI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5D361D-8ECC-3B72-0925-703B1E61A48D}"/>
              </a:ext>
            </a:extLst>
          </p:cNvPr>
          <p:cNvSpPr txBox="1"/>
          <p:nvPr/>
        </p:nvSpPr>
        <p:spPr>
          <a:xfrm>
            <a:off x="9235440" y="4800600"/>
            <a:ext cx="164592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50" b="0" i="0">
                <a:solidFill>
                  <a:srgbClr val="475569"/>
                </a:solidFill>
                <a:latin typeface="Segoe UI"/>
              </a:defRPr>
            </a:pPr>
            <a:r>
              <a:t>Web front-end offering user questionnaires and structured reports.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9C7AD9-EAD7-1C16-49FA-5F70C344EEFC}"/>
              </a:ext>
            </a:extLst>
          </p:cNvPr>
          <p:cNvSpPr txBox="1"/>
          <p:nvPr/>
        </p:nvSpPr>
        <p:spPr>
          <a:xfrm>
            <a:off x="1097280" y="6035040"/>
            <a:ext cx="99669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50" b="0" i="0">
                <a:solidFill>
                  <a:srgbClr val="475569"/>
                </a:solidFill>
                <a:latin typeface="Segoe UI"/>
              </a:defRPr>
            </a:pPr>
            <a:r>
              <a:rPr dirty="0"/>
              <a:t>University Project Defense  |  Educational Medical Triage System</a:t>
            </a:r>
          </a:p>
        </p:txBody>
      </p:sp>
    </p:spTree>
    <p:extLst>
      <p:ext uri="{BB962C8B-B14F-4D97-AF65-F5344CB8AC3E}">
        <p14:creationId xmlns:p14="http://schemas.microsoft.com/office/powerpoint/2010/main" val="161485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D9488"/>
                </a:solidFill>
                <a:latin typeface="Segoe UI"/>
              </a:defRPr>
            </a:pPr>
            <a:r>
              <a:t>CONTEXT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400" b="1" i="0">
                <a:solidFill>
                  <a:srgbClr val="0F172A"/>
                </a:solidFill>
                <a:latin typeface="Segoe UI"/>
              </a:defRPr>
            </a:pPr>
            <a:r>
              <a:t>Problem Statement &amp; Solution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60152" cy="182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846320" cy="4480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2976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 i="0">
                <a:solidFill>
                  <a:srgbClr val="EF4444"/>
                </a:solidFill>
                <a:latin typeface="Segoe UI"/>
              </a:defRPr>
            </a:pPr>
            <a:r>
              <a:t>🚨 THE HEALTHCARE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29768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Symptom Ambiguity</a:t>
            </a:r>
            <a:r>
              <a:rPr sz="1300" b="0">
                <a:solidFill>
                  <a:srgbClr val="475569"/>
                </a:solidFill>
                <a:latin typeface="Segoe UI"/>
              </a:rPr>
              <a:t>: Patients struggle to distinguish between mild discomfort and critical, life-threatening emergencies.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ER Overcrowding</a:t>
            </a:r>
            <a:r>
              <a:rPr sz="1300" b="0">
                <a:solidFill>
                  <a:srgbClr val="475569"/>
                </a:solidFill>
                <a:latin typeface="Segoe UI"/>
              </a:rPr>
              <a:t>: Medical emergency departments are heavily congested with patients presenting non-emergency symptoms.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Missed Red Flags</a:t>
            </a:r>
            <a:r>
              <a:rPr sz="1300" b="0">
                <a:solidFill>
                  <a:srgbClr val="475569"/>
                </a:solidFill>
                <a:latin typeface="Segoe UI"/>
              </a:rPr>
              <a:t>: Critical indicators of stroke, cardiovascular events, or sepsis are frequently ignored due to lack of medical knowledge.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Unverified AI Chatbots</a:t>
            </a:r>
            <a:r>
              <a:rPr sz="1300" b="0">
                <a:solidFill>
                  <a:srgbClr val="475569"/>
                </a:solidFill>
                <a:latin typeface="Segoe UI"/>
              </a:rPr>
              <a:t>: Standard generative AI search answers present high risks of hallucinating diagnoses without verification against guidelines.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846320" cy="44805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2976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 i="0">
                <a:solidFill>
                  <a:srgbClr val="0D9488"/>
                </a:solidFill>
                <a:latin typeface="Segoe UI"/>
              </a:defRPr>
            </a:pPr>
            <a:r>
              <a:t>🟢 THE MEDITRIAGE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29768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Guided Triage Routing</a:t>
            </a:r>
            <a:r>
              <a:rPr sz="1300" b="0">
                <a:solidFill>
                  <a:srgbClr val="475569"/>
                </a:solidFill>
                <a:latin typeface="Segoe UI"/>
              </a:rPr>
              <a:t>: Dynamically classifies patient urgency into emergency, doctor referral, or home-care paths.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Clinical Guideline Check</a:t>
            </a:r>
            <a:r>
              <a:rPr sz="1300" b="0">
                <a:solidFill>
                  <a:srgbClr val="475569"/>
                </a:solidFill>
                <a:latin typeface="Segoe UI"/>
              </a:rPr>
              <a:t>: Incorporates Python lookup tools that reference structured guidelines before drafting care plans.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Clarification Node Loop</a:t>
            </a:r>
            <a:r>
              <a:rPr sz="1300" b="0">
                <a:solidFill>
                  <a:srgbClr val="475569"/>
                </a:solidFill>
                <a:latin typeface="Segoe UI"/>
              </a:rPr>
              <a:t>: Activates dynamic dialog to gather details (duration, pain score) if confidence is insufficient (&lt;70%).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Recommendation Quality Control</a:t>
            </a:r>
            <a:r>
              <a:rPr sz="1300" b="0">
                <a:solidFill>
                  <a:srgbClr val="475569"/>
                </a:solidFill>
                <a:latin typeface="Segoe UI"/>
              </a:rPr>
              <a:t>: Performs auto-evaluations to enforce strict safety warnings and actionable directives.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D9488"/>
                </a:solidFill>
                <a:latin typeface="Segoe UI"/>
              </a:defRPr>
            </a:pPr>
            <a:r>
              <a:t>STRUCTURAL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400" b="1" i="0">
                <a:solidFill>
                  <a:srgbClr val="0F172A"/>
                </a:solidFill>
                <a:latin typeface="Segoe UI"/>
              </a:defRPr>
            </a:pPr>
            <a:r>
              <a:t>System Architecture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60152" cy="182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3774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20116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 i="0">
                <a:solidFill>
                  <a:srgbClr val="4F46E5"/>
                </a:solidFill>
                <a:latin typeface="Segoe UI"/>
              </a:defRPr>
            </a:pPr>
            <a:r>
              <a:t>💻 STREAMLIT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21031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Interactive Chat</a:t>
            </a:r>
            <a:r>
              <a:rPr sz="1100" b="0">
                <a:solidFill>
                  <a:srgbClr val="475569"/>
                </a:solidFill>
                <a:latin typeface="Segoe UI"/>
              </a:rPr>
              <a:t>: Simple dialogue interface.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3-Step Intake Form</a:t>
            </a:r>
            <a:r>
              <a:rPr sz="1100" b="0">
                <a:solidFill>
                  <a:srgbClr val="475569"/>
                </a:solidFill>
                <a:latin typeface="Segoe UI"/>
              </a:rPr>
              <a:t>: Gathers main symptom, duration, and pain score (1-10) upfront.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Thread ID Tracker</a:t>
            </a:r>
            <a:r>
              <a:rPr sz="1100" b="0">
                <a:solidFill>
                  <a:srgbClr val="475569"/>
                </a:solidFill>
                <a:latin typeface="Segoe UI"/>
              </a:rPr>
              <a:t>: Enables persistent sessions.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Urgency Badges</a:t>
            </a:r>
            <a:r>
              <a:rPr sz="1100" b="0">
                <a:solidFill>
                  <a:srgbClr val="475569"/>
                </a:solidFill>
                <a:latin typeface="Segoe UI"/>
              </a:rPr>
              <a:t>: Direct visual feedback via CSS color bars.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200400" cy="42062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283464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 i="0">
                <a:solidFill>
                  <a:srgbClr val="0D9488"/>
                </a:solidFill>
                <a:latin typeface="Segoe UI"/>
              </a:defRPr>
            </a:pPr>
            <a:r>
              <a:t>⛓️ STATE 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560320"/>
            <a:ext cx="292608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TypedDict AgentState</a:t>
            </a:r>
            <a:r>
              <a:rPr sz="1150" b="0">
                <a:solidFill>
                  <a:srgbClr val="475569"/>
                </a:solidFill>
                <a:latin typeface="Segoe UI"/>
              </a:rPr>
              <a:t>: Tracks symptom details, messages, red flags, recommendations, and iteration counters.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Conditional Routing</a:t>
            </a:r>
            <a:r>
              <a:rPr sz="1150" b="0">
                <a:solidFill>
                  <a:srgbClr val="475569"/>
                </a:solidFill>
                <a:latin typeface="Segoe UI"/>
              </a:rPr>
              <a:t>: Handles logic for safety branches and loops.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MemorySaver checkpointer</a:t>
            </a:r>
            <a:r>
              <a:rPr sz="1150" b="0">
                <a:solidFill>
                  <a:srgbClr val="475569"/>
                </a:solidFill>
                <a:latin typeface="Segoe UI"/>
              </a:rPr>
              <a:t>: Retains discussion state across questions.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Multi-Node Graph</a:t>
            </a:r>
            <a:r>
              <a:rPr sz="1150" b="0">
                <a:solidFill>
                  <a:srgbClr val="475569"/>
                </a:solidFill>
                <a:latin typeface="Segoe UI"/>
              </a:rPr>
              <a:t>: 9 specialized execution nodes orchestrate state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6459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82880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Segoe UI"/>
              </a:defRPr>
            </a:pPr>
            <a:r>
              <a:t>🛠️ PYTHON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48840"/>
            <a:ext cx="24688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`lookup_medical_guidelines`</a:t>
            </a:r>
            <a:r>
              <a:rPr sz="1050" b="0">
                <a:solidFill>
                  <a:srgbClr val="475569"/>
                </a:solidFill>
                <a:latin typeface="Segoe UI"/>
              </a:rPr>
              <a:t>: Matches queries against symptom guidelines.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`calculate_urgency_score`</a:t>
            </a:r>
            <a:r>
              <a:rPr sz="1050" b="0">
                <a:solidFill>
                  <a:srgbClr val="475569"/>
                </a:solidFill>
                <a:latin typeface="Segoe UI"/>
              </a:rPr>
              <a:t>: Computes score based on severity, duration, and red flags.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411480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0" y="4297680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 i="0">
                <a:solidFill>
                  <a:srgbClr val="4F46E5"/>
                </a:solidFill>
                <a:latin typeface="Segoe UI"/>
              </a:defRPr>
            </a:pPr>
            <a:r>
              <a:t>🤖 LLM REASONING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617720"/>
            <a:ext cx="24688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Llama-3.3-70b-versatile</a:t>
            </a:r>
            <a:r>
              <a:rPr sz="1050" b="0">
                <a:solidFill>
                  <a:srgbClr val="475569"/>
                </a:solidFill>
                <a:latin typeface="Segoe UI"/>
              </a:rPr>
              <a:t>: Ultra-fast, highly precise reasoning.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Structured Output</a:t>
            </a:r>
            <a:r>
              <a:rPr sz="1050" b="0">
                <a:solidFill>
                  <a:srgbClr val="475569"/>
                </a:solidFill>
                <a:latin typeface="Segoe UI"/>
              </a:rPr>
              <a:t>: Uses `with_structured_output` for clinical classifications.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4014216"/>
            <a:ext cx="1005840" cy="1828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187952" y="3968496"/>
            <a:ext cx="109728" cy="109728"/>
          </a:xfrm>
          <a:prstGeom prst="triangl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72618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User State (Pills)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739895"/>
            <a:ext cx="1005840" cy="182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sosceles Triangle 20"/>
          <p:cNvSpPr/>
          <p:nvPr/>
        </p:nvSpPr>
        <p:spPr>
          <a:xfrm rot="16200000">
            <a:off x="3291840" y="3694175"/>
            <a:ext cx="109728" cy="109728"/>
          </a:xfrm>
          <a:prstGeom prst="triangl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0" y="3817619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Assessments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642616"/>
            <a:ext cx="1005841" cy="182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/>
          <p:cNvSpPr/>
          <p:nvPr/>
        </p:nvSpPr>
        <p:spPr>
          <a:xfrm rot="5400000">
            <a:off x="8394192" y="2596896"/>
            <a:ext cx="109728" cy="109728"/>
          </a:xfrm>
          <a:prstGeom prst="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39" y="235458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Call 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5111496"/>
            <a:ext cx="1005841" cy="1828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sosceles Triangle 26"/>
          <p:cNvSpPr/>
          <p:nvPr/>
        </p:nvSpPr>
        <p:spPr>
          <a:xfrm rot="5400000">
            <a:off x="8394192" y="5065776"/>
            <a:ext cx="109728" cy="109728"/>
          </a:xfrm>
          <a:prstGeom prst="triangl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39" y="482346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Prompt / Schema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D9488"/>
                </a:solidFill>
                <a:latin typeface="Segoe UI"/>
              </a:defRPr>
            </a:pPr>
            <a:r>
              <a:t>LANGGRAPH ROUTING &amp;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400" b="1" i="0">
                <a:solidFill>
                  <a:srgbClr val="0F172A"/>
                </a:solidFill>
                <a:latin typeface="Segoe UI"/>
              </a:defRPr>
            </a:pPr>
            <a:r>
              <a:t>Workflow Architecture (Conditional &amp; Iterative)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60152" cy="182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2004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GRAPH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Workflow Blueprint</a:t>
            </a:r>
            <a:r>
              <a:rPr sz="1100" b="0">
                <a:solidFill>
                  <a:srgbClr val="475569"/>
                </a:solidFill>
                <a:latin typeface="Segoe UI"/>
              </a:rPr>
              <a:t>: Built using LangGraph StateGraph, combining deterministic tool calls with conditional LLM agents.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Clarification Loop</a:t>
            </a:r>
            <a:r>
              <a:rPr sz="1100" b="0">
                <a:solidFill>
                  <a:srgbClr val="475569"/>
                </a:solidFill>
                <a:latin typeface="Segoe UI"/>
              </a:rPr>
              <a:t>: Triggered when initial symptom confidence score is below 70%. Clarification node asks the patient questions and loops back.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Specialist Branching</a:t>
            </a:r>
            <a:r>
              <a:rPr sz="1100" b="0">
                <a:solidFill>
                  <a:srgbClr val="475569"/>
                </a:solidFill>
                <a:latin typeface="Segoe UI"/>
              </a:rPr>
              <a:t>: Conditionally routes patient details to `emergency_advisor`, `doctor_advisor`, or `home_care_advisor` based on severity.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Recommendation Refinement</a:t>
            </a:r>
            <a:r>
              <a:rPr sz="1100" b="0">
                <a:solidFill>
                  <a:srgbClr val="475569"/>
                </a:solidFill>
                <a:latin typeface="Segoe UI"/>
              </a:rPr>
              <a:t>: Quality evaluator acts as a clinical gatekeeper. If guidelines or safety advice are lacking, loops to `refine` (max 6 loops).</a:t>
            </a:r>
          </a:p>
        </p:txBody>
      </p:sp>
      <p:sp>
        <p:nvSpPr>
          <p:cNvPr id="7" name="Oval 6"/>
          <p:cNvSpPr/>
          <p:nvPr/>
        </p:nvSpPr>
        <p:spPr>
          <a:xfrm>
            <a:off x="4297680" y="3108960"/>
            <a:ext cx="64008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3200400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926080"/>
            <a:ext cx="12801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0" y="3063240"/>
            <a:ext cx="1280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 i="0">
                <a:solidFill>
                  <a:srgbClr val="0F172A"/>
                </a:solidFill>
                <a:latin typeface="Segoe UI"/>
              </a:defRPr>
            </a:pPr>
            <a:r>
              <a:t>symptom_analyzer</a:t>
            </a:r>
            <a:br/>
            <a:r>
              <a:t>(LLM)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645920"/>
            <a:ext cx="1280160" cy="6400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178308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 i="0">
                <a:solidFill>
                  <a:srgbClr val="4F46E5"/>
                </a:solidFill>
                <a:latin typeface="Segoe UI"/>
              </a:defRPr>
            </a:pPr>
            <a:r>
              <a:t>clarification</a:t>
            </a:r>
            <a:br/>
            <a:r>
              <a:t>(User loop)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926080"/>
            <a:ext cx="12801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3063240"/>
            <a:ext cx="1280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 i="0">
                <a:solidFill>
                  <a:srgbClr val="0F172A"/>
                </a:solidFill>
                <a:latin typeface="Segoe UI"/>
              </a:defRPr>
            </a:pPr>
            <a:r>
              <a:t>gather_context</a:t>
            </a:r>
            <a:br/>
            <a:r>
              <a:t>(Tool Invoker)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645920"/>
            <a:ext cx="1371600" cy="6400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1783080"/>
            <a:ext cx="1371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 i="0">
                <a:solidFill>
                  <a:srgbClr val="EF4444"/>
                </a:solidFill>
                <a:latin typeface="Segoe UI"/>
              </a:defRPr>
            </a:pPr>
            <a:r>
              <a:t>emergency_advisor</a:t>
            </a:r>
            <a:br/>
            <a:r>
              <a:t>(Critical Care)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017520"/>
            <a:ext cx="1371600" cy="640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0" y="3154680"/>
            <a:ext cx="1371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 i="0">
                <a:solidFill>
                  <a:srgbClr val="F59E0B"/>
                </a:solidFill>
                <a:latin typeface="Segoe UI"/>
              </a:defRPr>
            </a:pPr>
            <a:r>
              <a:t>doctor_advisor</a:t>
            </a:r>
            <a:br/>
            <a:r>
              <a:t>(Clinic Routing)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4389120"/>
            <a:ext cx="1371600" cy="6400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0" y="4526280"/>
            <a:ext cx="1371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 i="0">
                <a:solidFill>
                  <a:srgbClr val="0D9488"/>
                </a:solidFill>
                <a:latin typeface="Segoe UI"/>
              </a:defRPr>
            </a:pPr>
            <a:r>
              <a:t>home_care_advisor</a:t>
            </a:r>
            <a:br/>
            <a:r>
              <a:t>(Self Management)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2926080"/>
            <a:ext cx="1371600" cy="8229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0" y="3063240"/>
            <a:ext cx="13716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 i="0">
                <a:solidFill>
                  <a:srgbClr val="4F46E5"/>
                </a:solidFill>
                <a:latin typeface="Segoe UI"/>
              </a:defRPr>
            </a:pPr>
            <a:r>
              <a:t>quality_evaluator</a:t>
            </a:r>
            <a:br/>
            <a:r>
              <a:t>(Safety Check)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1645920"/>
            <a:ext cx="1371600" cy="6400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0" y="1783080"/>
            <a:ext cx="1371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 i="0">
                <a:solidFill>
                  <a:srgbClr val="4F46E5"/>
                </a:solidFill>
                <a:latin typeface="Segoe UI"/>
              </a:defRPr>
            </a:pPr>
            <a:r>
              <a:t>refine_recommend</a:t>
            </a:r>
            <a:br/>
            <a:r>
              <a:t>(Rewrite loop)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4389120"/>
            <a:ext cx="13716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4526280"/>
            <a:ext cx="1371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Segoe UI"/>
              </a:defRPr>
            </a:pPr>
            <a:r>
              <a:t>finalize</a:t>
            </a:r>
            <a:br/>
            <a:r>
              <a:t>(Format Output)</a:t>
            </a:r>
          </a:p>
        </p:txBody>
      </p:sp>
      <p:sp>
        <p:nvSpPr>
          <p:cNvPr id="27" name="Oval 26"/>
          <p:cNvSpPr/>
          <p:nvPr/>
        </p:nvSpPr>
        <p:spPr>
          <a:xfrm>
            <a:off x="10881360" y="5486400"/>
            <a:ext cx="64008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1360" y="5577840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Segoe UI"/>
              </a:defRPr>
            </a:pPr>
            <a:r>
              <a:t>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3328416"/>
            <a:ext cx="365760" cy="182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sosceles Triangle 29"/>
          <p:cNvSpPr/>
          <p:nvPr/>
        </p:nvSpPr>
        <p:spPr>
          <a:xfrm rot="5400000">
            <a:off x="5193792" y="3282696"/>
            <a:ext cx="109728" cy="109728"/>
          </a:xfrm>
          <a:prstGeom prst="triangl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51576" y="2286000"/>
            <a:ext cx="18288" cy="64008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Isosceles Triangle 31"/>
          <p:cNvSpPr/>
          <p:nvPr/>
        </p:nvSpPr>
        <p:spPr>
          <a:xfrm>
            <a:off x="5705856" y="2286000"/>
            <a:ext cx="109728" cy="109728"/>
          </a:xfrm>
          <a:prstGeom prst="triangl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29300" y="249174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Confidence &lt; 0.7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17336" y="2286000"/>
            <a:ext cx="18288" cy="64008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6071616" y="2816352"/>
            <a:ext cx="109728" cy="109728"/>
          </a:xfrm>
          <a:prstGeom prst="triangl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69180" y="249174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Update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328416"/>
            <a:ext cx="457200" cy="182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Isosceles Triangle 37"/>
          <p:cNvSpPr/>
          <p:nvPr/>
        </p:nvSpPr>
        <p:spPr>
          <a:xfrm rot="5400000">
            <a:off x="6931152" y="3282696"/>
            <a:ext cx="109728" cy="109728"/>
          </a:xfrm>
          <a:prstGeom prst="triangl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304038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Conf &gt;= 0.7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2916936"/>
            <a:ext cx="1097280" cy="1828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Isosceles Triangle 40"/>
          <p:cNvSpPr/>
          <p:nvPr/>
        </p:nvSpPr>
        <p:spPr>
          <a:xfrm rot="5400000">
            <a:off x="8668512" y="1911096"/>
            <a:ext cx="109728" cy="109728"/>
          </a:xfrm>
          <a:prstGeom prst="triangl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35240" y="214884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emergency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328416"/>
            <a:ext cx="457200" cy="182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Isosceles Triangle 43"/>
          <p:cNvSpPr/>
          <p:nvPr/>
        </p:nvSpPr>
        <p:spPr>
          <a:xfrm rot="5400000">
            <a:off x="8668512" y="3282696"/>
            <a:ext cx="109728" cy="109728"/>
          </a:xfrm>
          <a:prstGeom prst="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55280" y="340614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doctor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3739895"/>
            <a:ext cx="1097280" cy="182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Isosceles Triangle 46"/>
          <p:cNvSpPr/>
          <p:nvPr/>
        </p:nvSpPr>
        <p:spPr>
          <a:xfrm rot="5400000">
            <a:off x="8668512" y="4654296"/>
            <a:ext cx="109728" cy="109728"/>
          </a:xfrm>
          <a:prstGeom prst="triangl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35240" y="4297679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home_care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49840" y="1956816"/>
            <a:ext cx="365760" cy="18288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Isosceles Triangle 49"/>
          <p:cNvSpPr/>
          <p:nvPr/>
        </p:nvSpPr>
        <p:spPr>
          <a:xfrm rot="5400000">
            <a:off x="10405872" y="2871216"/>
            <a:ext cx="109728" cy="109728"/>
          </a:xfrm>
          <a:prstGeom prst="triangl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149840" y="3328416"/>
            <a:ext cx="365760" cy="182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Isosceles Triangle 51"/>
          <p:cNvSpPr/>
          <p:nvPr/>
        </p:nvSpPr>
        <p:spPr>
          <a:xfrm rot="5400000">
            <a:off x="10405872" y="3282696"/>
            <a:ext cx="109728" cy="109728"/>
          </a:xfrm>
          <a:prstGeom prst="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149840" y="4700016"/>
            <a:ext cx="365760" cy="182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Isosceles Triangle 53"/>
          <p:cNvSpPr/>
          <p:nvPr/>
        </p:nvSpPr>
        <p:spPr>
          <a:xfrm rot="5400000">
            <a:off x="10405872" y="3694175"/>
            <a:ext cx="109728" cy="109728"/>
          </a:xfrm>
          <a:prstGeom prst="triangl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963656" y="2286000"/>
            <a:ext cx="18288" cy="64008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Isosceles Triangle 55"/>
          <p:cNvSpPr/>
          <p:nvPr/>
        </p:nvSpPr>
        <p:spPr>
          <a:xfrm>
            <a:off x="10917936" y="2286000"/>
            <a:ext cx="109728" cy="109728"/>
          </a:xfrm>
          <a:prstGeom prst="triangl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041380" y="249174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Low Quality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329416" y="2286000"/>
            <a:ext cx="18288" cy="64008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Isosceles Triangle 58"/>
          <p:cNvSpPr/>
          <p:nvPr/>
        </p:nvSpPr>
        <p:spPr>
          <a:xfrm rot="10800000">
            <a:off x="11283696" y="2816352"/>
            <a:ext cx="109728" cy="109728"/>
          </a:xfrm>
          <a:prstGeom prst="triangl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081260" y="249174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Refined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192256" y="3749039"/>
            <a:ext cx="18288" cy="640081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Isosceles Triangle 61"/>
          <p:cNvSpPr/>
          <p:nvPr/>
        </p:nvSpPr>
        <p:spPr>
          <a:xfrm rot="10800000">
            <a:off x="11146536" y="4279392"/>
            <a:ext cx="109728" cy="109728"/>
          </a:xfrm>
          <a:prstGeom prst="triangl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269980" y="3954779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 i="0">
                <a:solidFill>
                  <a:srgbClr val="475569"/>
                </a:solidFill>
                <a:latin typeface="Segoe UI"/>
              </a:defRPr>
            </a:pPr>
            <a:r>
              <a:t>Adequate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192256" y="5029200"/>
            <a:ext cx="18288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Isosceles Triangle 64"/>
          <p:cNvSpPr/>
          <p:nvPr/>
        </p:nvSpPr>
        <p:spPr>
          <a:xfrm rot="10800000">
            <a:off x="11146536" y="5376672"/>
            <a:ext cx="109728" cy="109728"/>
          </a:xfrm>
          <a:prstGeom prst="triangle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D9488"/>
                </a:solidFill>
                <a:latin typeface="Segoe UI"/>
              </a:defRPr>
            </a:pPr>
            <a:r>
              <a:t>ASSESSMENTS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400" b="1" i="0">
                <a:solidFill>
                  <a:srgbClr val="0F172A"/>
                </a:solidFill>
                <a:latin typeface="Segoe UI"/>
              </a:defRPr>
            </a:pPr>
            <a:r>
              <a:t>Project Working &amp; Execution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60152" cy="182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96312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96312" cy="5486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2276856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1. Patient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2276856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50" b="0" i="0">
                <a:solidFill>
                  <a:srgbClr val="475569"/>
                </a:solidFill>
                <a:latin typeface="Segoe UI"/>
              </a:defRPr>
            </a:pPr>
            <a:r>
              <a:t>User describes symptoms, then inputs duration, severity (1-10), and secondary symptoms in Streamlit.</a:t>
            </a:r>
            <a:br/>
            <a:br/>
            <a:r>
              <a:t>MemorySaver automatically scans inputs for history queries like 'What did I tell you before?' and recalls previous chats.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96312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496312" cy="5486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4448" y="1828800"/>
            <a:ext cx="2276856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2. Symptom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240280"/>
            <a:ext cx="2276856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50" b="0" i="0">
                <a:solidFill>
                  <a:srgbClr val="475569"/>
                </a:solidFill>
                <a:latin typeface="Segoe UI"/>
              </a:defRPr>
            </a:pPr>
            <a:r>
              <a:t>LangGraph launches. `symptom_analyzer` node invokes Llama-3.3 via Groq.</a:t>
            </a:r>
            <a:br/>
            <a:br/>
            <a:r>
              <a:t>Extracts structured diagnostic elements: care level, confidence, category, reasoning. Low confidence loops via clarification.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96312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496312" cy="5486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7648" y="1828800"/>
            <a:ext cx="2276856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3. Tool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240280"/>
            <a:ext cx="2276856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50" b="0" i="0">
                <a:solidFill>
                  <a:srgbClr val="475569"/>
                </a:solidFill>
                <a:latin typeface="Segoe UI"/>
              </a:defRPr>
            </a:pPr>
            <a:r>
              <a:t>The `gather_context` node triggers two tools:</a:t>
            </a:r>
            <a:br/>
            <a:br/>
            <a:r>
              <a:t>• `lookup_guidelines` checks local guidelines DB.</a:t>
            </a:r>
            <a:br/>
            <a:r>
              <a:t>• `calculate_urgency_score` runs python math for final numerical urgency score based on severity/flags.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96312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1645920"/>
            <a:ext cx="2496312" cy="5486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0848" y="1828800"/>
            <a:ext cx="2276856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 i="0">
                <a:solidFill>
                  <a:srgbClr val="0F172A"/>
                </a:solidFill>
                <a:latin typeface="Segoe UI"/>
              </a:defRPr>
            </a:pPr>
            <a:r>
              <a:t>4. Expert Advice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240280"/>
            <a:ext cx="2276856" cy="2468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50" b="0" i="0">
                <a:solidFill>
                  <a:srgbClr val="475569"/>
                </a:solidFill>
                <a:latin typeface="Segoe UI"/>
              </a:defRPr>
            </a:pPr>
            <a:r>
              <a:t>The graph conditionally branches to specific expert nodes. </a:t>
            </a:r>
            <a:br/>
            <a:br/>
            <a:r>
              <a:t>`quality_evaluator` assesses advice safety. Adequacy routes to final formatting; low quality is iteratively refined by LLM.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27832" y="3236976"/>
            <a:ext cx="246888" cy="1828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/>
          <p:cNvSpPr/>
          <p:nvPr/>
        </p:nvSpPr>
        <p:spPr>
          <a:xfrm rot="5400000">
            <a:off x="3364992" y="3191256"/>
            <a:ext cx="109728" cy="109728"/>
          </a:xfrm>
          <a:prstGeom prst="triangl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71032" y="3236976"/>
            <a:ext cx="246888" cy="1828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/>
          <p:cNvSpPr/>
          <p:nvPr/>
        </p:nvSpPr>
        <p:spPr>
          <a:xfrm rot="5400000">
            <a:off x="6108192" y="3191256"/>
            <a:ext cx="109728" cy="109728"/>
          </a:xfrm>
          <a:prstGeom prst="triangl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14232" y="3236976"/>
            <a:ext cx="246888" cy="1828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/>
          <p:cNvSpPr/>
          <p:nvPr/>
        </p:nvSpPr>
        <p:spPr>
          <a:xfrm rot="5400000">
            <a:off x="8851392" y="3191256"/>
            <a:ext cx="109728" cy="109728"/>
          </a:xfrm>
          <a:prstGeom prst="triangl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1072591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 i="0">
                <a:solidFill>
                  <a:srgbClr val="0D9488"/>
                </a:solidFill>
                <a:latin typeface="Segoe UI"/>
              </a:defRPr>
            </a:pPr>
            <a:r>
              <a:t>AUTOMATED TRIAGE ROUTING LEVELS (OUTPUT BRANCHES)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49240"/>
            <a:ext cx="3291840" cy="10058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440680"/>
            <a:ext cx="30175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EF4444"/>
                </a:solidFill>
                <a:latin typeface="Segoe UI"/>
              </a:defRPr>
            </a:pPr>
            <a:r>
              <a:t>🚨 EMERGENCY LEVEL</a:t>
            </a:r>
            <a:br/>
            <a:r>
              <a:t>Critical symptoms (e.g. chest pain, dyspnea).</a:t>
            </a:r>
            <a:br/>
            <a:r>
              <a:t>Instruction: Call emergency services immediately.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3984" y="5349240"/>
            <a:ext cx="3291840" cy="10058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81144" y="5440680"/>
            <a:ext cx="30175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F59E0B"/>
                </a:solidFill>
                <a:latin typeface="Segoe UI"/>
              </a:defRPr>
            </a:pPr>
            <a:r>
              <a:t>👨‍⚕️ DOCTOR VISIT LEVEL</a:t>
            </a:r>
            <a:br/>
            <a:r>
              <a:t>Moderate severity / lingering issues.</a:t>
            </a:r>
            <a:br/>
            <a:r>
              <a:t>Instruction: Schedule medical clinic evaluation within 24-48 hours.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65592" y="5349240"/>
            <a:ext cx="3291840" cy="10058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02752" y="5440680"/>
            <a:ext cx="301752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0D9488"/>
                </a:solidFill>
                <a:latin typeface="Segoe UI"/>
              </a:defRPr>
            </a:pPr>
            <a:r>
              <a:t>🏠 HOME CARE LEVEL</a:t>
            </a:r>
            <a:br/>
            <a:r>
              <a:t>Mild tension, fatigue, cold, or minor issues.</a:t>
            </a:r>
            <a:br/>
            <a:r>
              <a:t>Instruction: Implement self-care, monitor symptoms, rest &amp; hydrate.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D9488"/>
                </a:solidFill>
                <a:latin typeface="Segoe UI"/>
              </a:defRPr>
            </a:pPr>
            <a:r>
              <a:t>OUTCOMES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400" b="1" i="0">
                <a:solidFill>
                  <a:srgbClr val="0F172A"/>
                </a:solidFill>
                <a:latin typeface="Segoe UI"/>
              </a:defRPr>
            </a:pPr>
            <a:r>
              <a:t>Conclusion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60152" cy="182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846320" cy="44805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2976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 i="0">
                <a:solidFill>
                  <a:srgbClr val="4F46E5"/>
                </a:solidFill>
                <a:latin typeface="Segoe UI"/>
              </a:defRPr>
            </a:pPr>
            <a:r>
              <a:t>🏆 KEY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29768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Clinical Guardrail Integration</a:t>
            </a:r>
            <a:r>
              <a:rPr sz="1150" b="0">
                <a:solidFill>
                  <a:srgbClr val="475569"/>
                </a:solidFill>
                <a:latin typeface="Segoe UI"/>
              </a:rPr>
              <a:t>: Python tools actively cross-reference static medical rules databases, avoiding typical pure LLM hallucinations.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Double-Loop Graph Logic</a:t>
            </a:r>
            <a:r>
              <a:rPr sz="1150" b="0">
                <a:solidFill>
                  <a:srgbClr val="475569"/>
                </a:solidFill>
                <a:latin typeface="Segoe UI"/>
              </a:rPr>
              <a:t>: Safely handles inputs (clarification dialogue loop) and outputs (quality review loop) before final delivery.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State Persistence (Memory)</a:t>
            </a:r>
            <a:r>
              <a:rPr sz="1150" b="0">
                <a:solidFill>
                  <a:srgbClr val="475569"/>
                </a:solidFill>
                <a:latin typeface="Segoe UI"/>
              </a:rPr>
              <a:t>: LangGraph MemorySaver retains history across assessment turns, allowing immediate context recall.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Interactive Web Interface</a:t>
            </a:r>
            <a:r>
              <a:rPr sz="1150" b="0">
                <a:solidFill>
                  <a:srgbClr val="475569"/>
                </a:solidFill>
                <a:latin typeface="Segoe UI"/>
              </a:rPr>
              <a:t>: Streamlit dashboard makes complex agent workflows visual, seamless, and patient-friendly.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846320" cy="44805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2976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 i="0">
                <a:solidFill>
                  <a:srgbClr val="0D9488"/>
                </a:solidFill>
                <a:latin typeface="Segoe UI"/>
              </a:defRPr>
            </a:pPr>
            <a:r>
              <a:t>🚀 FUTURE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29768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EHR Integrations</a:t>
            </a:r>
            <a:r>
              <a:rPr sz="1150" b="0">
                <a:solidFill>
                  <a:srgbClr val="475569"/>
                </a:solidFill>
                <a:latin typeface="Segoe UI"/>
              </a:rPr>
              <a:t>: Connect directly to Electronic Health Record (EHR) APIs to sync triage reports into healthcare systems.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Safety Expansion (Drug Checker)</a:t>
            </a:r>
            <a:r>
              <a:rPr sz="1150" b="0">
                <a:solidFill>
                  <a:srgbClr val="475569"/>
                </a:solidFill>
                <a:latin typeface="Segoe UI"/>
              </a:rPr>
              <a:t>: Integrate prescription drug-interaction tools and allergy checkers into the reasoning nodes.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Voice Symptom Log</a:t>
            </a:r>
            <a:r>
              <a:rPr sz="1150" b="0">
                <a:solidFill>
                  <a:srgbClr val="475569"/>
                </a:solidFill>
                <a:latin typeface="Segoe UI"/>
              </a:rPr>
              <a:t>: Add natural language speech-to-text input to allow elderly or impaired patients to speak symptoms.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Multilingual Localization</a:t>
            </a:r>
            <a:r>
              <a:rPr sz="1150" b="0">
                <a:solidFill>
                  <a:srgbClr val="475569"/>
                </a:solidFill>
                <a:latin typeface="Segoe UI"/>
              </a:rPr>
              <a:t>: Support Urdu, Sindhi, and other regional languages for broader localized healthcare accessibility.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1152</Words>
  <Application>Microsoft Office PowerPoint</Application>
  <PresentationFormat>Widescreen</PresentationFormat>
  <Paragraphs>109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Abdul Basit</cp:lastModifiedBy>
  <cp:revision>3</cp:revision>
  <dcterms:created xsi:type="dcterms:W3CDTF">2013-01-27T09:14:16Z</dcterms:created>
  <dcterms:modified xsi:type="dcterms:W3CDTF">2026-06-12T13:51:14Z</dcterms:modified>
  <cp:category/>
</cp:coreProperties>
</file>